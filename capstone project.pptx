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70" r:id="rId3"/>
    <p:sldId id="257" r:id="rId4"/>
    <p:sldId id="258" r:id="rId5"/>
    <p:sldId id="259" r:id="rId6"/>
    <p:sldId id="261" r:id="rId7"/>
    <p:sldId id="262" r:id="rId8"/>
    <p:sldId id="263" r:id="rId9"/>
    <p:sldId id="265" r:id="rId10"/>
    <p:sldId id="267" r:id="rId11"/>
    <p:sldId id="266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75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2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6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1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2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8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7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72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6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1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2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1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B3222-BBF5-D687-8C66-91AA66529C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F67EB-CC5F-C0A3-C932-C8CD6CF04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898373"/>
            <a:ext cx="11638963" cy="3474720"/>
          </a:xfrm>
        </p:spPr>
        <p:txBody>
          <a:bodyPr anchor="b">
            <a:normAutofit/>
          </a:bodyPr>
          <a:lstStyle/>
          <a:p>
            <a:pPr algn="l"/>
            <a:r>
              <a:rPr lang="en-GB" sz="6000" dirty="0"/>
              <a:t>Customer Purchase Behaviour Prediction in E-Commerce Platform </a:t>
            </a:r>
            <a:r>
              <a:rPr lang="en-IN" sz="5800" dirty="0"/>
              <a:t>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402F1-01C1-9CAA-B5B2-A38EEA472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IN" sz="2200" dirty="0"/>
              <a:t>Presented by,</a:t>
            </a:r>
          </a:p>
          <a:p>
            <a:pPr algn="l"/>
            <a:r>
              <a:rPr lang="en-IN" sz="2200" dirty="0"/>
              <a:t>Zubariya Suleka Z</a:t>
            </a:r>
          </a:p>
        </p:txBody>
      </p:sp>
    </p:spTree>
    <p:extLst>
      <p:ext uri="{BB962C8B-B14F-4D97-AF65-F5344CB8AC3E}">
        <p14:creationId xmlns:p14="http://schemas.microsoft.com/office/powerpoint/2010/main" val="3842553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9467-0956-CB13-900C-E628EC41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491C806-1EB8-2D65-52A9-0B338A5444B8}"/>
              </a:ext>
            </a:extLst>
          </p:cNvPr>
          <p:cNvSpPr/>
          <p:nvPr/>
        </p:nvSpPr>
        <p:spPr>
          <a:xfrm>
            <a:off x="797668" y="2295728"/>
            <a:ext cx="4182894" cy="2772383"/>
          </a:xfrm>
          <a:prstGeom prst="round2Diag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EDFCEAEA-8400-2EA9-C921-5FDE77A70FE8}"/>
              </a:ext>
            </a:extLst>
          </p:cNvPr>
          <p:cNvSpPr/>
          <p:nvPr/>
        </p:nvSpPr>
        <p:spPr>
          <a:xfrm>
            <a:off x="6358856" y="2295727"/>
            <a:ext cx="4182894" cy="2772383"/>
          </a:xfrm>
          <a:prstGeom prst="round2Diag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866A3-2C48-7B45-63A5-4C6CF76752B0}"/>
              </a:ext>
            </a:extLst>
          </p:cNvPr>
          <p:cNvSpPr txBox="1"/>
          <p:nvPr/>
        </p:nvSpPr>
        <p:spPr>
          <a:xfrm>
            <a:off x="1284051" y="2889115"/>
            <a:ext cx="3190672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b="1" i="1" dirty="0">
                <a:solidFill>
                  <a:schemeClr val="bg1"/>
                </a:solidFill>
              </a:rPr>
              <a:t>Given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Customer product purchase data in an ecommerce platform for the year 2024</a:t>
            </a:r>
          </a:p>
          <a:p>
            <a:pPr marL="685800" lvl="3" indent="0" algn="ctr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C3C53-EBE9-4C67-05A7-F92B0833797E}"/>
              </a:ext>
            </a:extLst>
          </p:cNvPr>
          <p:cNvSpPr txBox="1"/>
          <p:nvPr/>
        </p:nvSpPr>
        <p:spPr>
          <a:xfrm>
            <a:off x="6926094" y="2766282"/>
            <a:ext cx="285020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b="1" i="1" dirty="0">
                <a:solidFill>
                  <a:schemeClr val="bg1"/>
                </a:solidFill>
              </a:rPr>
              <a:t>Objective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To predict whether a customer will purchase the product or not by using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2167695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D855-B3C8-5BFF-6FA5-AD3628FA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EB30F3-BCE8-EB3C-1AB7-57470E6AD3D8}"/>
              </a:ext>
            </a:extLst>
          </p:cNvPr>
          <p:cNvSpPr/>
          <p:nvPr/>
        </p:nvSpPr>
        <p:spPr>
          <a:xfrm>
            <a:off x="762000" y="1503680"/>
            <a:ext cx="2286000" cy="1747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0EBCF1-95DA-99ED-B68A-5B134445BAE1}"/>
              </a:ext>
            </a:extLst>
          </p:cNvPr>
          <p:cNvSpPr/>
          <p:nvPr/>
        </p:nvSpPr>
        <p:spPr>
          <a:xfrm>
            <a:off x="751840" y="1503680"/>
            <a:ext cx="2286000" cy="174752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>
            <a:solidFill>
              <a:schemeClr val="accent3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74E738-BAFB-C323-0F0E-87CE8BDBB52A}"/>
              </a:ext>
            </a:extLst>
          </p:cNvPr>
          <p:cNvSpPr/>
          <p:nvPr/>
        </p:nvSpPr>
        <p:spPr>
          <a:xfrm>
            <a:off x="4472232" y="1503680"/>
            <a:ext cx="2286000" cy="174752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8575">
            <a:solidFill>
              <a:schemeClr val="accent3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71FF9C-3393-F5E5-66FB-476FF0D295DC}"/>
              </a:ext>
            </a:extLst>
          </p:cNvPr>
          <p:cNvSpPr/>
          <p:nvPr/>
        </p:nvSpPr>
        <p:spPr>
          <a:xfrm>
            <a:off x="8475272" y="1503680"/>
            <a:ext cx="2286000" cy="174752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8575">
            <a:solidFill>
              <a:schemeClr val="accent3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67EE97-0847-3EB0-53D9-874F64F54C48}"/>
              </a:ext>
            </a:extLst>
          </p:cNvPr>
          <p:cNvSpPr/>
          <p:nvPr/>
        </p:nvSpPr>
        <p:spPr>
          <a:xfrm>
            <a:off x="2519680" y="3906520"/>
            <a:ext cx="2286000" cy="174752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8575">
            <a:solidFill>
              <a:schemeClr val="accent3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B48BD3-E94D-ED8E-6A2D-5EF19BB39237}"/>
              </a:ext>
            </a:extLst>
          </p:cNvPr>
          <p:cNvSpPr/>
          <p:nvPr/>
        </p:nvSpPr>
        <p:spPr>
          <a:xfrm>
            <a:off x="6448352" y="3906520"/>
            <a:ext cx="2286000" cy="174752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8575">
            <a:solidFill>
              <a:schemeClr val="accent3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574DFB-070C-E447-6EE3-FEF334DA4B74}"/>
              </a:ext>
            </a:extLst>
          </p:cNvPr>
          <p:cNvSpPr txBox="1"/>
          <p:nvPr/>
        </p:nvSpPr>
        <p:spPr>
          <a:xfrm>
            <a:off x="904240" y="1798320"/>
            <a:ext cx="1850952" cy="923330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Size: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60000  x  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3A41F5-88DB-A806-E3DB-F9F207983D62}"/>
              </a:ext>
            </a:extLst>
          </p:cNvPr>
          <p:cNvSpPr txBox="1"/>
          <p:nvPr/>
        </p:nvSpPr>
        <p:spPr>
          <a:xfrm>
            <a:off x="4632960" y="1838960"/>
            <a:ext cx="185095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Missing Data: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3C0CB7-197B-6DBF-589C-28A94D641992}"/>
              </a:ext>
            </a:extLst>
          </p:cNvPr>
          <p:cNvSpPr txBox="1"/>
          <p:nvPr/>
        </p:nvSpPr>
        <p:spPr>
          <a:xfrm>
            <a:off x="8656320" y="1838960"/>
            <a:ext cx="1850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Duplicates: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599B6-D6FD-B408-4D44-F11626356D79}"/>
              </a:ext>
            </a:extLst>
          </p:cNvPr>
          <p:cNvSpPr txBox="1"/>
          <p:nvPr/>
        </p:nvSpPr>
        <p:spPr>
          <a:xfrm>
            <a:off x="6483912" y="4318615"/>
            <a:ext cx="21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Target variable: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 err="1">
                <a:solidFill>
                  <a:schemeClr val="bg1"/>
                </a:solidFill>
              </a:rPr>
              <a:t>Purchase_history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25A257-0D3B-CE4A-CEC9-ED466F878C65}"/>
              </a:ext>
            </a:extLst>
          </p:cNvPr>
          <p:cNvSpPr txBox="1"/>
          <p:nvPr/>
        </p:nvSpPr>
        <p:spPr>
          <a:xfrm>
            <a:off x="2682240" y="4257040"/>
            <a:ext cx="1850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Outliers: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15866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nk graph with numbers and a line&#10;&#10;AI-generated content may be incorrect.">
            <a:extLst>
              <a:ext uri="{FF2B5EF4-FFF2-40B4-BE49-F238E27FC236}">
                <a16:creationId xmlns:a16="http://schemas.microsoft.com/office/drawing/2014/main" id="{19088B90-5A89-31EF-F5C5-46A5EA396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09" y="1483205"/>
            <a:ext cx="6572382" cy="4222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8BF8E2-6B94-482B-F118-91722B9BE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dirty="0"/>
              <a:t>Exploratory Data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A0315CD-FA65-3C0B-C3BC-F6C747AF7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9809" y="5853241"/>
            <a:ext cx="6572382" cy="5580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/>
              <a:t>The Target is balanced data</a:t>
            </a:r>
          </a:p>
        </p:txBody>
      </p:sp>
    </p:spTree>
    <p:extLst>
      <p:ext uri="{BB962C8B-B14F-4D97-AF65-F5344CB8AC3E}">
        <p14:creationId xmlns:p14="http://schemas.microsoft.com/office/powerpoint/2010/main" val="371045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3865200-7153-B509-CE27-08E98D692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EBBAC523-D5C5-0B39-F48E-391248931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405" y="3605092"/>
            <a:ext cx="3154481" cy="1490491"/>
          </a:xfrm>
          <a:prstGeom prst="rect">
            <a:avLst/>
          </a:prstGeom>
        </p:spPr>
      </p:pic>
      <p:pic>
        <p:nvPicPr>
          <p:cNvPr id="9" name="Picture 8" descr="A comparison of a graph&#10;&#10;AI-generated content may be incorrect.">
            <a:extLst>
              <a:ext uri="{FF2B5EF4-FFF2-40B4-BE49-F238E27FC236}">
                <a16:creationId xmlns:a16="http://schemas.microsoft.com/office/drawing/2014/main" id="{597FA25F-E3F2-CC9E-BE93-CAD1E0B03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891" y="3585296"/>
            <a:ext cx="3198474" cy="151927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BCE0D9-531D-385D-6D09-244F205D8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307989" y="2085761"/>
            <a:ext cx="3154481" cy="1466489"/>
          </a:xfrm>
          <a:prstGeom prst="rect">
            <a:avLst/>
          </a:prstGeom>
        </p:spPr>
      </p:pic>
      <p:pic>
        <p:nvPicPr>
          <p:cNvPr id="7" name="Picture 6" descr="A comparison of a graph&#10;&#10;AI-generated content may be incorrect.">
            <a:extLst>
              <a:ext uri="{FF2B5EF4-FFF2-40B4-BE49-F238E27FC236}">
                <a16:creationId xmlns:a16="http://schemas.microsoft.com/office/drawing/2014/main" id="{25760554-6814-B5D8-A91A-1BD9EDA7DB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28" y="2021967"/>
            <a:ext cx="3152078" cy="14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A60AE8-2C1E-2B21-E933-DACA6827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307" y="386256"/>
            <a:ext cx="6467963" cy="9372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Univariate Analysis – Numerical columns</a:t>
            </a:r>
          </a:p>
        </p:txBody>
      </p:sp>
      <p:pic>
        <p:nvPicPr>
          <p:cNvPr id="20" name="Picture 19" descr="A comparison of a graph&#10;&#10;AI-generated content may be incorrect.">
            <a:extLst>
              <a:ext uri="{FF2B5EF4-FFF2-40B4-BE49-F238E27FC236}">
                <a16:creationId xmlns:a16="http://schemas.microsoft.com/office/drawing/2014/main" id="{4A74E7B4-0DAA-DB4F-640E-9C6317E68D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72" y="3527835"/>
            <a:ext cx="3219618" cy="1645006"/>
          </a:xfrm>
          <a:prstGeom prst="rect">
            <a:avLst/>
          </a:prstGeom>
        </p:spPr>
      </p:pic>
      <p:pic>
        <p:nvPicPr>
          <p:cNvPr id="22" name="Picture 21" descr="A comparison of a graph&#10;&#10;AI-generated content may be incorrect.">
            <a:extLst>
              <a:ext uri="{FF2B5EF4-FFF2-40B4-BE49-F238E27FC236}">
                <a16:creationId xmlns:a16="http://schemas.microsoft.com/office/drawing/2014/main" id="{B42B7E0B-115E-952A-7369-DA6F51CD35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495" y="2055014"/>
            <a:ext cx="3244870" cy="149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5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3865200-7153-B509-CE27-08E98D692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B85011-2BF8-5DFD-48AF-482C4881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92" y="3637928"/>
            <a:ext cx="3154481" cy="1927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BFBC17-0E81-9D0C-0E22-ACAEB29C9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308" y="3637930"/>
            <a:ext cx="3152077" cy="192626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1CB51D-AF3F-DF1E-772F-FEAB8E01F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8789" y="1782777"/>
            <a:ext cx="3154481" cy="1704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8C2167-FD22-F65B-0027-59D2E8791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5308" y="1672043"/>
            <a:ext cx="3152078" cy="18156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155872-5AFB-66E9-0608-4C60823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307" y="386256"/>
            <a:ext cx="6467963" cy="9372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Univariate Analysis – Categorical columns</a:t>
            </a:r>
          </a:p>
        </p:txBody>
      </p:sp>
    </p:spTree>
    <p:extLst>
      <p:ext uri="{BB962C8B-B14F-4D97-AF65-F5344CB8AC3E}">
        <p14:creationId xmlns:p14="http://schemas.microsoft.com/office/powerpoint/2010/main" val="263211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EB22-9730-1865-8737-E77938A3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7302F-AE71-CB1B-39B3-F744B8B64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 based Features – </a:t>
            </a:r>
            <a:r>
              <a:rPr lang="en-IN" dirty="0" err="1"/>
              <a:t>user_total_interactions</a:t>
            </a:r>
            <a:r>
              <a:rPr lang="en-IN" dirty="0"/>
              <a:t>, </a:t>
            </a:r>
            <a:r>
              <a:rPr lang="en-IN" dirty="0" err="1"/>
              <a:t>user_total_spent</a:t>
            </a:r>
            <a:r>
              <a:rPr lang="en-IN" dirty="0"/>
              <a:t>, </a:t>
            </a:r>
            <a:r>
              <a:rPr lang="en-IN" dirty="0" err="1"/>
              <a:t>user_avg_review_count</a:t>
            </a:r>
            <a:r>
              <a:rPr lang="en-IN" dirty="0"/>
              <a:t>, etc</a:t>
            </a:r>
          </a:p>
          <a:p>
            <a:r>
              <a:rPr lang="en-IN" dirty="0"/>
              <a:t>Product based Features - </a:t>
            </a:r>
            <a:r>
              <a:rPr lang="en-GB" dirty="0"/>
              <a:t>'</a:t>
            </a:r>
            <a:r>
              <a:rPr lang="en-GB" dirty="0" err="1"/>
              <a:t>product_avg_rating</a:t>
            </a:r>
            <a:r>
              <a:rPr lang="en-GB" dirty="0"/>
              <a:t>', '</a:t>
            </a:r>
            <a:r>
              <a:rPr lang="en-GB" dirty="0" err="1"/>
              <a:t>product_avg_review_count</a:t>
            </a:r>
            <a:r>
              <a:rPr lang="en-GB" dirty="0"/>
              <a:t>’ , etc</a:t>
            </a:r>
          </a:p>
          <a:p>
            <a:r>
              <a:rPr lang="en-GB" dirty="0"/>
              <a:t>Time based features : ‘</a:t>
            </a:r>
            <a:r>
              <a:rPr lang="en-GB" dirty="0" err="1"/>
              <a:t>is_weekend</a:t>
            </a:r>
            <a:r>
              <a:rPr lang="en-GB" dirty="0"/>
              <a:t>’, ‘</a:t>
            </a:r>
            <a:r>
              <a:rPr lang="en-GB" dirty="0" err="1"/>
              <a:t>purchase_month</a:t>
            </a:r>
            <a:r>
              <a:rPr lang="en-GB" dirty="0"/>
              <a:t>’, ‘</a:t>
            </a:r>
            <a:r>
              <a:rPr lang="en-GB" dirty="0" err="1"/>
              <a:t>purchase_hour</a:t>
            </a:r>
            <a:r>
              <a:rPr lang="en-GB" dirty="0"/>
              <a:t>’</a:t>
            </a:r>
          </a:p>
          <a:p>
            <a:r>
              <a:rPr lang="en-GB" dirty="0"/>
              <a:t>Target encoding for categorical columns due to high cardinality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209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58B8-BB28-F7C2-9F90-BE3DEFA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Preparation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95A465A-6705-909F-C7C4-7286D7B0ED7C}"/>
              </a:ext>
            </a:extLst>
          </p:cNvPr>
          <p:cNvSpPr/>
          <p:nvPr/>
        </p:nvSpPr>
        <p:spPr>
          <a:xfrm>
            <a:off x="741680" y="1463040"/>
            <a:ext cx="3281680" cy="1645920"/>
          </a:xfrm>
          <a:prstGeom prst="round2Diag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4AB0E-98A7-513B-EAE9-BEE72250AB18}"/>
              </a:ext>
            </a:extLst>
          </p:cNvPr>
          <p:cNvSpPr txBox="1"/>
          <p:nvPr/>
        </p:nvSpPr>
        <p:spPr>
          <a:xfrm>
            <a:off x="995680" y="1767840"/>
            <a:ext cx="2956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Separating Dependent/Independent variables</a:t>
            </a:r>
          </a:p>
          <a:p>
            <a:endParaRPr lang="en-IN" dirty="0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3E9945CA-C65E-7764-79B3-3C7C8DAB0D96}"/>
              </a:ext>
            </a:extLst>
          </p:cNvPr>
          <p:cNvSpPr/>
          <p:nvPr/>
        </p:nvSpPr>
        <p:spPr>
          <a:xfrm>
            <a:off x="3952240" y="2968169"/>
            <a:ext cx="3281680" cy="1645920"/>
          </a:xfrm>
          <a:prstGeom prst="round2Diag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7872D-D1B6-EA3D-5119-E5326BF252EE}"/>
              </a:ext>
            </a:extLst>
          </p:cNvPr>
          <p:cNvSpPr txBox="1"/>
          <p:nvPr/>
        </p:nvSpPr>
        <p:spPr>
          <a:xfrm>
            <a:off x="4152392" y="3195902"/>
            <a:ext cx="2858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Splitting Training and Testing data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Train – 80%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Test – 20%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3EF9386A-60A3-87E3-B5DE-783C7B4788E0}"/>
              </a:ext>
            </a:extLst>
          </p:cNvPr>
          <p:cNvSpPr/>
          <p:nvPr/>
        </p:nvSpPr>
        <p:spPr>
          <a:xfrm>
            <a:off x="7162800" y="4614089"/>
            <a:ext cx="3281680" cy="1645920"/>
          </a:xfrm>
          <a:prstGeom prst="round2Diag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12E6B-6016-3030-4C91-774BB1689A34}"/>
              </a:ext>
            </a:extLst>
          </p:cNvPr>
          <p:cNvSpPr txBox="1"/>
          <p:nvPr/>
        </p:nvSpPr>
        <p:spPr>
          <a:xfrm>
            <a:off x="7447280" y="5113883"/>
            <a:ext cx="2712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Feature scaling using </a:t>
            </a:r>
            <a:r>
              <a:rPr lang="en-IN" dirty="0" err="1">
                <a:solidFill>
                  <a:schemeClr val="bg1"/>
                </a:solidFill>
              </a:rPr>
              <a:t>StandardScaler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38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C6736-3183-BF07-98F8-6490FCBF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Model accuracy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441BA4-D2A0-A0EF-886B-EB0226E39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0732840"/>
              </p:ext>
            </p:extLst>
          </p:nvPr>
        </p:nvGraphicFramePr>
        <p:xfrm>
          <a:off x="1403437" y="1680898"/>
          <a:ext cx="9072000" cy="201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3024000">
                  <a:extLst>
                    <a:ext uri="{9D8B030D-6E8A-4147-A177-3AD203B41FA5}">
                      <a16:colId xmlns:a16="http://schemas.microsoft.com/office/drawing/2014/main" val="891361161"/>
                    </a:ext>
                  </a:extLst>
                </a:gridCol>
                <a:gridCol w="3024000">
                  <a:extLst>
                    <a:ext uri="{9D8B030D-6E8A-4147-A177-3AD203B41FA5}">
                      <a16:colId xmlns:a16="http://schemas.microsoft.com/office/drawing/2014/main" val="1035767591"/>
                    </a:ext>
                  </a:extLst>
                </a:gridCol>
                <a:gridCol w="3024000">
                  <a:extLst>
                    <a:ext uri="{9D8B030D-6E8A-4147-A177-3AD203B41FA5}">
                      <a16:colId xmlns:a16="http://schemas.microsoft.com/office/drawing/2014/main" val="86337505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Model 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Training Accuracy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 Accuracy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311879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Logistic Regression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kern="1200" baseline="0" dirty="0">
                          <a:solidFill>
                            <a:schemeClr val="dk1"/>
                          </a:solidFill>
                        </a:rPr>
                        <a:t>90.6</a:t>
                      </a:r>
                      <a:endParaRPr lang="en-IN" dirty="0"/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kern="1200" baseline="0" dirty="0">
                          <a:solidFill>
                            <a:schemeClr val="dk1"/>
                          </a:solidFill>
                        </a:rPr>
                        <a:t>90.3</a:t>
                      </a:r>
                      <a:endParaRPr lang="en-IN" dirty="0"/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488665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Random Forest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89.6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69284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kern="1200" baseline="0" dirty="0">
                          <a:solidFill>
                            <a:schemeClr val="dk1"/>
                          </a:solidFill>
                        </a:rPr>
                        <a:t>98.9</a:t>
                      </a:r>
                      <a:endParaRPr lang="en-IN" dirty="0"/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u="none" strike="noStrike" kern="1200" baseline="0" dirty="0">
                          <a:solidFill>
                            <a:schemeClr val="dk1"/>
                          </a:solidFill>
                        </a:rPr>
                        <a:t>89.3</a:t>
                      </a:r>
                      <a:endParaRPr lang="en-IN" dirty="0"/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90153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33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C807-F350-6BA9-B48D-9A4DFE9D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Hyperparameter Tuning using Randomized </a:t>
            </a:r>
            <a:r>
              <a:rPr lang="en-IN" dirty="0" err="1"/>
              <a:t>SearchCV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2B37C-D02C-20ED-B412-FEB43B8F4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latin typeface="LMMono10-Regular-Identity-H"/>
              </a:rPr>
              <a:t>Best Parameters: </a:t>
            </a:r>
            <a:r>
              <a:rPr lang="en-IN" dirty="0"/>
              <a:t>'subsample': 1.0,</a:t>
            </a:r>
          </a:p>
          <a:p>
            <a:r>
              <a:rPr lang="en-IN" dirty="0"/>
              <a:t>  '</a:t>
            </a:r>
            <a:r>
              <a:rPr lang="en-IN" dirty="0" err="1"/>
              <a:t>reg_lambda</a:t>
            </a:r>
            <a:r>
              <a:rPr lang="en-IN" dirty="0"/>
              <a:t>': 5,</a:t>
            </a:r>
          </a:p>
          <a:p>
            <a:r>
              <a:rPr lang="en-IN" dirty="0"/>
              <a:t>  '</a:t>
            </a:r>
            <a:r>
              <a:rPr lang="en-IN" dirty="0" err="1"/>
              <a:t>reg_alpha</a:t>
            </a:r>
            <a:r>
              <a:rPr lang="en-IN" dirty="0"/>
              <a:t>': 1,</a:t>
            </a:r>
          </a:p>
          <a:p>
            <a:r>
              <a:rPr lang="en-IN" dirty="0"/>
              <a:t>  '</a:t>
            </a:r>
            <a:r>
              <a:rPr lang="en-IN" dirty="0" err="1"/>
              <a:t>n_estimators</a:t>
            </a:r>
            <a:r>
              <a:rPr lang="en-IN" dirty="0"/>
              <a:t>': 400,</a:t>
            </a:r>
          </a:p>
          <a:p>
            <a:r>
              <a:rPr lang="en-IN" dirty="0"/>
              <a:t>  '</a:t>
            </a:r>
            <a:r>
              <a:rPr lang="en-IN" dirty="0" err="1"/>
              <a:t>max_depth</a:t>
            </a:r>
            <a:r>
              <a:rPr lang="en-IN" dirty="0"/>
              <a:t>': 5,</a:t>
            </a:r>
          </a:p>
          <a:p>
            <a:r>
              <a:rPr lang="en-IN" dirty="0"/>
              <a:t>  '</a:t>
            </a:r>
            <a:r>
              <a:rPr lang="en-IN" dirty="0" err="1"/>
              <a:t>learning_rate</a:t>
            </a:r>
            <a:r>
              <a:rPr lang="en-IN" dirty="0"/>
              <a:t>': 0.01,</a:t>
            </a:r>
          </a:p>
          <a:p>
            <a:r>
              <a:rPr lang="en-IN" dirty="0"/>
              <a:t>  '</a:t>
            </a:r>
            <a:r>
              <a:rPr lang="en-IN" dirty="0" err="1"/>
              <a:t>colsample_bytree</a:t>
            </a:r>
            <a:r>
              <a:rPr lang="en-IN" dirty="0"/>
              <a:t>': 0.8</a:t>
            </a:r>
            <a:endParaRPr lang="en-GB" dirty="0">
              <a:latin typeface="LMMono10-Regular-Identity-H"/>
            </a:endParaRPr>
          </a:p>
          <a:p>
            <a:pPr algn="l"/>
            <a:r>
              <a:rPr lang="en-GB" dirty="0">
                <a:latin typeface="LMMono10-Regular-Identity-H"/>
              </a:rPr>
              <a:t>New </a:t>
            </a:r>
            <a:r>
              <a:rPr lang="en-GB" dirty="0" err="1">
                <a:latin typeface="LMMono10-Regular-Identity-H"/>
              </a:rPr>
              <a:t>XGBoost</a:t>
            </a:r>
            <a:r>
              <a:rPr lang="en-GB" dirty="0">
                <a:latin typeface="LMMono10-Regular-Identity-H"/>
              </a:rPr>
              <a:t> model with tuned parameters</a:t>
            </a:r>
          </a:p>
          <a:p>
            <a:pPr lvl="1"/>
            <a:r>
              <a:rPr lang="en-GB" sz="2000" dirty="0">
                <a:latin typeface="LMMono10-Regular-Identity-H"/>
              </a:rPr>
              <a:t>Train accuracy = 0.908</a:t>
            </a:r>
          </a:p>
          <a:p>
            <a:pPr lvl="1"/>
            <a:r>
              <a:rPr lang="en-GB" sz="2000" dirty="0">
                <a:latin typeface="LMMono10-Regular-Identity-H"/>
              </a:rPr>
              <a:t>Test Accuracy = 0.903</a:t>
            </a:r>
            <a:endParaRPr lang="en-IN" sz="2000" dirty="0">
              <a:latin typeface="LMMono10-Regular-Identity-H"/>
            </a:endParaRPr>
          </a:p>
          <a:p>
            <a:r>
              <a:rPr lang="en-IN" dirty="0">
                <a:latin typeface="LMMono10-Regular-Identity-H"/>
              </a:rPr>
              <a:t>Significant  Improvement in the accuracy after Hyperparameter tuning</a:t>
            </a:r>
            <a:endParaRPr lang="en-GB" dirty="0">
              <a:latin typeface="LMMono10-Regular-Identity-H"/>
            </a:endParaRPr>
          </a:p>
        </p:txBody>
      </p:sp>
    </p:spTree>
    <p:extLst>
      <p:ext uri="{BB962C8B-B14F-4D97-AF65-F5344CB8AC3E}">
        <p14:creationId xmlns:p14="http://schemas.microsoft.com/office/powerpoint/2010/main" val="256910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98320-DB4B-3EAE-3A2B-32929F7D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pPr algn="ctr"/>
            <a:r>
              <a:rPr lang="en-IN" dirty="0"/>
              <a:t>Feature Importance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531A0-EE15-951E-BAF9-B7749E4E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51" y="1405333"/>
            <a:ext cx="9208169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12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F67AD-9206-7903-FF31-520A3BC8C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/>
              <a:t>Confusion Matrix and ROC curve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B7948F-3112-7F32-58A3-DC7332AC3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805" y="1981071"/>
            <a:ext cx="5163271" cy="4058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F5642C-04D3-5A55-7CE0-FCF21B582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345" y="1981071"/>
            <a:ext cx="5372850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78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1AB2-2464-DEF1-D6EA-C460CF08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D334-4A00-F55F-1EC7-10CA1259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 err="1"/>
              <a:t>XGBoost</a:t>
            </a:r>
            <a:r>
              <a:rPr lang="en-GB" b="1" dirty="0"/>
              <a:t> classifier</a:t>
            </a:r>
            <a:r>
              <a:rPr lang="en-GB" dirty="0"/>
              <a:t> delivered the best overall performance with a training accuracy of 90% and a test accuracy of  90%, indicating strong generalization without overfitting. The model achieved balanced precision and recall, confirming its reliability in identifying both purchasing and non-purchasing users</a:t>
            </a:r>
          </a:p>
          <a:p>
            <a:r>
              <a:rPr lang="en-GB" dirty="0"/>
              <a:t>This classification model serves as a valuable foundation for understanding online customer behaviour and can be further integrated into a </a:t>
            </a:r>
            <a:r>
              <a:rPr lang="en-GB" b="1" dirty="0"/>
              <a:t>hybrid recommendation pipeline</a:t>
            </a:r>
            <a:r>
              <a:rPr lang="en-GB" dirty="0"/>
              <a:t> to enhance personalization and sales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008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6553-61A8-F4DF-A8DE-F6C6B442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Personalized Product Recommendations Using Hybrid Filtering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6B4C6-6161-67FD-77CA-11A322903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Approach: Combine </a:t>
            </a:r>
            <a:r>
              <a:rPr lang="en-GB" b="1" dirty="0"/>
              <a:t>Collaborative Filtering (ALS)</a:t>
            </a:r>
            <a:r>
              <a:rPr lang="en-GB" dirty="0"/>
              <a:t> and </a:t>
            </a:r>
            <a:r>
              <a:rPr lang="en-GB" b="1" dirty="0"/>
              <a:t>Content-Based Filtering (Cosine Similarity)</a:t>
            </a:r>
            <a:r>
              <a:rPr lang="en-GB" dirty="0"/>
              <a:t> for personalized and contextual recommendations.</a:t>
            </a:r>
          </a:p>
          <a:p>
            <a:r>
              <a:rPr lang="en-GB" dirty="0"/>
              <a:t>Collaborative Filtering (ALS):</a:t>
            </a:r>
          </a:p>
          <a:p>
            <a:pPr lvl="1"/>
            <a:r>
              <a:rPr lang="en-GB" dirty="0"/>
              <a:t>Built a user–product interaction matrix </a:t>
            </a:r>
          </a:p>
          <a:p>
            <a:pPr lvl="1"/>
            <a:r>
              <a:rPr lang="en-GB" dirty="0"/>
              <a:t>Learned latent factors representing user preferences and product similarities</a:t>
            </a:r>
          </a:p>
          <a:p>
            <a:r>
              <a:rPr lang="en-GB" dirty="0"/>
              <a:t>Content-Based Filtering</a:t>
            </a:r>
          </a:p>
          <a:p>
            <a:pPr lvl="1"/>
            <a:r>
              <a:rPr lang="en-GB" dirty="0"/>
              <a:t>Calculated product similarity using attributes such as price, discount, rating, and category</a:t>
            </a:r>
          </a:p>
          <a:p>
            <a:pPr lvl="1"/>
            <a:r>
              <a:rPr lang="en-GB" dirty="0"/>
              <a:t>Applied cosine similarity to find similar products</a:t>
            </a:r>
          </a:p>
          <a:p>
            <a:r>
              <a:rPr lang="en-GB" dirty="0"/>
              <a:t>Hybrid Model</a:t>
            </a:r>
          </a:p>
          <a:p>
            <a:pPr lvl="1"/>
            <a:r>
              <a:rPr lang="en-GB" dirty="0"/>
              <a:t>Combined CF and CBF scores:</a:t>
            </a:r>
          </a:p>
          <a:p>
            <a:pPr lvl="1"/>
            <a:r>
              <a:rPr lang="en-GB" dirty="0"/>
              <a:t>Final Score = 0.7 × CF + 0.3 × CBF</a:t>
            </a:r>
          </a:p>
          <a:p>
            <a:r>
              <a:rPr lang="en-GB" dirty="0"/>
              <a:t>Added cold-start logic using product popularity and discounts for new users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30567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3052</TotalTime>
  <Words>465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LMMono10-Regular-Identity-H</vt:lpstr>
      <vt:lpstr>Neue Haas Grotesk Text Pro</vt:lpstr>
      <vt:lpstr>VanillaVTI</vt:lpstr>
      <vt:lpstr>Customer Purchase Behaviour Prediction in E-Commerce Platform using Machine learning</vt:lpstr>
      <vt:lpstr>Problem statement</vt:lpstr>
      <vt:lpstr>Dataset</vt:lpstr>
      <vt:lpstr>Exploratory Data Analysis</vt:lpstr>
      <vt:lpstr>Univariate Analysis – Numerical columns</vt:lpstr>
      <vt:lpstr>Univariate Analysis – Categorical columns</vt:lpstr>
      <vt:lpstr>Feature Engineering</vt:lpstr>
      <vt:lpstr>Data Preparation</vt:lpstr>
      <vt:lpstr>Model accuracy</vt:lpstr>
      <vt:lpstr>Hyperparameter Tuning using Randomized SearchCV</vt:lpstr>
      <vt:lpstr>Feature Importance</vt:lpstr>
      <vt:lpstr>Confusion Matrix and ROC curve</vt:lpstr>
      <vt:lpstr>Result</vt:lpstr>
      <vt:lpstr>Personalized Product Recommendations Using Hybrid Filtering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Zubariya Suleka</dc:creator>
  <cp:lastModifiedBy>Zubariya Suleka</cp:lastModifiedBy>
  <cp:revision>5</cp:revision>
  <dcterms:created xsi:type="dcterms:W3CDTF">2025-02-20T16:24:59Z</dcterms:created>
  <dcterms:modified xsi:type="dcterms:W3CDTF">2025-10-31T11:39:36Z</dcterms:modified>
</cp:coreProperties>
</file>